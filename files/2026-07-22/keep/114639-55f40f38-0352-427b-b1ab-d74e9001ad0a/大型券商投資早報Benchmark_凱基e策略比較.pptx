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1323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投資早報 Benchmark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大型國內外券商資料欄位整理與凱基證券 e 策略比較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版本日期：2026-07-22｜用途：產品研究、內部討論、早報功能規劃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4160520"/>
            <a:ext cx="10561320" cy="685800"/>
          </a:xfrm>
          <a:prstGeom prst="rect">
            <a:avLst/>
          </a:prstGeom>
          <a:solidFill>
            <a:srgbClr val="D9EAF7"/>
          </a:solidFill>
          <a:ln w="12700">
            <a:solidFill>
              <a:srgbClr val="B7CFE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資訊 → 判斷 → 個人化 → 行動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核心問題：券商早報不只是告訴客戶市場發生什麼，而是幫客戶快速判斷「對我有什麼影響、今天可以做什麼」。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大型券商投資早報 Benchmark｜凱基 e 策略比較</a:t>
            </a:r>
            <a:endParaRPr lang="en-US" sz="6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核心結論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Benchmark 顯示，凱基的機會不是更長的早報，而是更短、更個人化、更可行動的晨間決策入口。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大型券商投資早報 Benchmark｜凱基 e 策略比較｜2026-07-22</a:t>
            </a:r>
            <a:endParaRPr lang="en-US" sz="67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3520440" cy="1965960"/>
          </a:xfrm>
          <a:prstGeom prst="rect">
            <a:avLst/>
          </a:prstGeom>
          <a:solidFill>
            <a:srgbClr val="EEF6FB"/>
          </a:solidFill>
          <a:ln w="10160">
            <a:solidFill>
              <a:srgbClr val="C9D7E3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國內券商
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強在台股研究、法人籌碼、個股評等與推薦標的；常見限制是 PDF 化與個人化不足。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343400" y="1234440"/>
            <a:ext cx="3520440" cy="1965960"/>
          </a:xfrm>
          <a:prstGeom prst="rect">
            <a:avLst/>
          </a:prstGeom>
          <a:solidFill>
            <a:srgbClr val="F9F4E7"/>
          </a:solidFill>
          <a:ln w="10160">
            <a:solidFill>
              <a:srgbClr val="C9D7E3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C28C2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海外券商
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強在跨資產快照、事件日曆、總經 surprise 與盤前市場溫度判斷。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092440" y="1234440"/>
            <a:ext cx="3520440" cy="1965960"/>
          </a:xfrm>
          <a:prstGeom prst="rect">
            <a:avLst/>
          </a:prstGeom>
          <a:solidFill>
            <a:srgbClr val="DDEEDB"/>
          </a:solidFill>
          <a:ln w="10160">
            <a:solidFill>
              <a:srgbClr val="C9D7E3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45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凱基 e 策略
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強在 AI、選股、回測、提醒、交易串接；最需補的是一頁式晨間結構。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379476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最重要的產品判斷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4187952"/>
            <a:ext cx="11018520" cy="914400"/>
          </a:xfrm>
          <a:prstGeom prst="rect">
            <a:avLst/>
          </a:prstGeom>
          <a:solidFill>
            <a:srgbClr val="D9EAF7"/>
          </a:solidFill>
          <a:ln w="12700">
            <a:solidFill>
              <a:srgbClr val="B7CF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凱基目前不是資料不足，而是需要把既有研究、AI 與交易能力重新包裝成「每天早上 30 秒可讀完，且能落到我的持股與下一步行動」的固定入口。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三種券商早報模式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早報模式會決定資料欄位與產品設計：研究型、導航型、行動型各有不同使用情境。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大型券商投資早報 Benchmark｜凱基 e 策略比較｜2026-07-22</a:t>
            </a:r>
            <a:endParaRPr lang="en-US" sz="670" dirty="0"/>
          </a:p>
        </p:txBody>
      </p:sp>
      <p:sp>
        <p:nvSpPr>
          <p:cNvPr id="5" name="Text 3"/>
          <p:cNvSpPr/>
          <p:nvPr/>
        </p:nvSpPr>
        <p:spPr>
          <a:xfrm>
            <a:off x="596189" y="1236269"/>
            <a:ext cx="2830982" cy="407822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模式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430829" y="1236269"/>
            <a:ext cx="2830982" cy="407822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代表券商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65469" y="1236269"/>
            <a:ext cx="5345582" cy="407822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核心任務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6189" y="1647749"/>
            <a:ext cx="2830982" cy="819302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國內券商：台股研究型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3430829" y="1647749"/>
            <a:ext cx="2830982" cy="819302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元大、統一、永豐、元富／台新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6265469" y="1647749"/>
            <a:ext cx="5345582" cy="819302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回答：今日台股怎麼走？法人買什麼？研究員看好什麼？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596189" y="2470709"/>
            <a:ext cx="2830982" cy="956462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海外券商：跨資產導航型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3430829" y="2470709"/>
            <a:ext cx="2830982" cy="956462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Schwab、Saxo、E*TRADE、IBKR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6265469" y="2470709"/>
            <a:ext cx="5345582" cy="956462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回答：全球是 Risk-on 還是 Risk-off？哪個資產正在驅動市場？今天有哪些催化劑？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596189" y="3430829"/>
            <a:ext cx="2830982" cy="819302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凱基 e 策略：投資行動型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3430829" y="3430829"/>
            <a:ext cx="2830982" cy="819302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凱基證券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6265469" y="3430829"/>
            <a:ext cx="5345582" cy="819302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回答：市場變化對我的持股有什麼影響？哪些策略可回測、可提醒、可交易？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777240" y="4846320"/>
            <a:ext cx="10607040" cy="640080"/>
          </a:xfrm>
          <a:prstGeom prst="rect">
            <a:avLst/>
          </a:prstGeom>
          <a:solidFill>
            <a:srgbClr val="F9F4E7"/>
          </a:solidFill>
          <a:ln w="12700">
            <a:solidFill>
              <a:srgbClr val="E1C986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產品啟示：凱基應把「研究內容」轉化成「固定決策路徑」，讓客戶每天以同一個順序理解市場。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國內券商早報：台股研究型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公開樣本與入口顯示，國內券商早報核心是台股盤勢、法人籌碼、研究評等與推薦標的。資料來源：S1-S4。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大型券商投資早報 Benchmark｜凱基 e 策略比較｜2026-07-22</a:t>
            </a:r>
            <a:endParaRPr lang="en-US" sz="67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4023360" cy="1874520"/>
          </a:xfrm>
          <a:prstGeom prst="rect">
            <a:avLst/>
          </a:prstGeom>
          <a:solidFill>
            <a:srgbClr val="EEF6FB"/>
          </a:solidFill>
          <a:ln w="10160">
            <a:solidFill>
              <a:srgbClr val="C9D7E3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共同邏輯
</a:t>
            </a:r>
            <a:pPr indent="0" marL="0">
              <a:buNone/>
            </a:pPr>
            <a:r>
              <a:rPr lang="en-US" sz="127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從「今天台股怎麼走、法人買什麼、研究員看好什麼」開始。資訊深度高，但多以文章／PDF／研究入口為主。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94360" y="3246120"/>
            <a:ext cx="4023360" cy="1691640"/>
          </a:xfrm>
          <a:prstGeom prst="rect">
            <a:avLst/>
          </a:prstGeom>
          <a:solidFill>
            <a:srgbClr val="DDEEDB"/>
          </a:solidFill>
          <a:ln w="10160">
            <a:solidFill>
              <a:srgbClr val="C9D7E3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45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對凱基的啟示
</a:t>
            </a:r>
            <a:pPr indent="0" marL="0">
              <a:buNone/>
            </a:pPr>
            <a:r>
              <a:rPr lang="en-US" sz="127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台股研究不是短板；應把法人籌碼、盤前定位與研究重點集中成固定化儀表板。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893869" y="1144829"/>
            <a:ext cx="1687982" cy="316382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資料類型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5509" y="1144829"/>
            <a:ext cx="3516782" cy="316382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典型內容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105949" y="1144829"/>
            <a:ext cx="1413662" cy="316382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常見程度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93869" y="1464869"/>
            <a:ext cx="168798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台股市場資料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6585509" y="1464869"/>
            <a:ext cx="351678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加權、櫃買、成交量、成交金額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10105949" y="1464869"/>
            <a:ext cx="141366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4893869" y="1940357"/>
            <a:ext cx="168798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法人與籌碼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6585509" y="1940357"/>
            <a:ext cx="351678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外資、投信、自營商、融資融券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10105949" y="1940357"/>
            <a:ext cx="141366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4893869" y="2415845"/>
            <a:ext cx="168798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國際股市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6585509" y="2415845"/>
            <a:ext cx="351678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美股、歐股、亞洲主要指數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10105949" y="2415845"/>
            <a:ext cx="141366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4893869" y="2891333"/>
            <a:ext cx="168798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研究資料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6585509" y="2891333"/>
            <a:ext cx="351678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個股評等、目標價、EPS、產業報告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10105949" y="2891333"/>
            <a:ext cx="141366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4893869" y="3366821"/>
            <a:ext cx="168798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當日選股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6585509" y="3366821"/>
            <a:ext cx="351678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研究精選、法人買超、短線強勢股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10105949" y="3366821"/>
            <a:ext cx="141366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4893869" y="3842309"/>
            <a:ext cx="168798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總經與新聞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6585509" y="3842309"/>
            <a:ext cx="351678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總經、政策、重大新聞、產業事件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10105949" y="3842309"/>
            <a:ext cx="141366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中高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4893869" y="4317797"/>
            <a:ext cx="168798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商品延伸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6585509" y="4317797"/>
            <a:ext cx="351678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權證、ETF、期貨或其他商品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10105949" y="4317797"/>
            <a:ext cx="141366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9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海外大型券商早報：跨資產導航型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Schwab、Saxo、E*TRADE、IBKR 更重視盤前快照、跨資產驅動、事件日曆與總經 surprise。資料來源：S5-S8。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大型券商投資早報 Benchmark｜凱基 e 策略比較｜2026-07-22</a:t>
            </a:r>
            <a:endParaRPr lang="en-US" sz="67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4023360" cy="1874520"/>
          </a:xfrm>
          <a:prstGeom prst="rect">
            <a:avLst/>
          </a:prstGeom>
          <a:solidFill>
            <a:srgbClr val="F9F4E7"/>
          </a:solidFill>
          <a:ln w="10160">
            <a:solidFill>
              <a:srgbClr val="C9D7E3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C28C2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共同邏輯
</a:t>
            </a:r>
            <a:pPr indent="0" marL="0">
              <a:buNone/>
            </a:pPr>
            <a:r>
              <a:rPr lang="en-US" sz="133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先判斷 Risk-on / Risk-off，再追蹤今天最可能改變市場方向的催化劑。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94360" y="3246120"/>
            <a:ext cx="4023360" cy="1691640"/>
          </a:xfrm>
          <a:prstGeom prst="rect">
            <a:avLst/>
          </a:prstGeom>
          <a:solidFill>
            <a:srgbClr val="DDEEDB"/>
          </a:solidFill>
          <a:ln w="10160">
            <a:solidFill>
              <a:srgbClr val="C9D7E3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45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對凱基的啟示
</a:t>
            </a:r>
            <a:pPr indent="0" marL="0">
              <a:buNone/>
            </a:pPr>
            <a:r>
              <a:rPr lang="en-US" sz="127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最值得借鏡的是欄位穩定、時間標示清楚、實際值／預估值／前值可比較。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893869" y="1144829"/>
            <a:ext cx="1687982" cy="316382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資料類型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585509" y="1144829"/>
            <a:ext cx="3471062" cy="316382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典型內容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10060229" y="1144829"/>
            <a:ext cx="1459382" cy="316382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投資用途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4893869" y="1464869"/>
            <a:ext cx="168798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盤前期貨與指數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6585509" y="1464869"/>
            <a:ext cx="347106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S&amp;P 500、Nasdaq、Dow、期貨與 fair value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0060229" y="1464869"/>
            <a:ext cx="145938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判斷開盤方向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893869" y="1940357"/>
            <a:ext cx="168798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美債殖利率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585509" y="1940357"/>
            <a:ext cx="347106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2Y、10Y、殖利率曲線變化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10060229" y="1940357"/>
            <a:ext cx="145938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判斷利率壓力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893869" y="2415845"/>
            <a:ext cx="168798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美元與外匯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585509" y="2415845"/>
            <a:ext cx="347106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DXY、主要貨幣、匯率波動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0060229" y="2415845"/>
            <a:ext cx="145938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判斷資金流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893869" y="2891333"/>
            <a:ext cx="168798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波動率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585509" y="2891333"/>
            <a:ext cx="347106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VIX 或其他波動指標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10060229" y="2891333"/>
            <a:ext cx="145938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判斷避險需求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893869" y="3366821"/>
            <a:ext cx="168798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商品與數位資產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585509" y="3366821"/>
            <a:ext cx="347106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WTI、黃金、Bitcoin、Ethereum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0060229" y="3366821"/>
            <a:ext cx="145938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判斷通膨與風險情緒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893869" y="3842309"/>
            <a:ext cx="168798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事件日曆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585509" y="3842309"/>
            <a:ext cx="347106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財報、經濟數據、央行談話、政策事件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10060229" y="3842309"/>
            <a:ext cx="1459382" cy="471830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安排交易風險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4893869" y="4317797"/>
            <a:ext cx="168798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Surprise Table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6585509" y="4317797"/>
            <a:ext cx="347106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實際值、預估值、前值、差異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10060229" y="4317797"/>
            <a:ext cx="1459382" cy="471830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判斷市場反應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 凱基 e 策略公開可確認能力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凱基已有把早報轉成行動的底層能力；缺口主要在「每日固定一頁式晨間入口」。資料來源：S9-S11。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大型券商投資早報 Benchmark｜凱基 e 策略比較｜2026-07-22</a:t>
            </a:r>
            <a:endParaRPr lang="en-US" sz="67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5440680" cy="411480"/>
          </a:xfrm>
          <a:prstGeom prst="rect">
            <a:avLst/>
          </a:prstGeom>
          <a:solidFill>
            <a:srgbClr val="DDEEDB"/>
          </a:solidFill>
          <a:ln w="12700">
            <a:solidFill>
              <a:srgbClr val="B7CFE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5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強項：資訊可直接延伸到行動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5212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台股日報、投資早報、個股／產業／總經研究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AI 法說會、新聞事件、個股多維度預測與研究摘要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100+ 選股策略、DIY 條件、籌碼／技術／基本面條件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策略回測、價量與新聞提醒、自動下單、跨商品交易</a:t>
            </a:r>
            <a:endParaRPr lang="en-US" sz="1360" dirty="0"/>
          </a:p>
        </p:txBody>
      </p:sp>
      <p:sp>
        <p:nvSpPr>
          <p:cNvPr id="7" name="Text 5"/>
          <p:cNvSpPr/>
          <p:nvPr/>
        </p:nvSpPr>
        <p:spPr>
          <a:xfrm>
            <a:off x="6263640" y="1143000"/>
            <a:ext cx="5349240" cy="411480"/>
          </a:xfrm>
          <a:prstGeom prst="rect">
            <a:avLst/>
          </a:prstGeom>
          <a:solidFill>
            <a:srgbClr val="FCE4D6"/>
          </a:solidFill>
          <a:ln w="12700">
            <a:solidFill>
              <a:srgbClr val="B7CFE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3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待補：晨間市場結構仍需產品化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5120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固定跨資產市場快照尚未明確產品化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總經實際值／預估值／前值與 surprise table 待補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事件／財報日曆與持股影響尚需集中呈現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資料時間、來源、延遲狀態可再明確標示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594360" y="4617720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關鍵產品機會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4983480"/>
            <a:ext cx="11018520" cy="822960"/>
          </a:xfrm>
          <a:prstGeom prst="rect">
            <a:avLst/>
          </a:prstGeom>
          <a:solidFill>
            <a:srgbClr val="D9EAF7"/>
          </a:solidFill>
          <a:ln w="12700">
            <a:solidFill>
              <a:srgbClr val="B7CF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e 策略從「很多強功能的投資 App」升級成「每天早上幫客戶理解市場、理解自己持股、並採取行動的個人化決策系統」。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6. 逐項 Benchmark Heatmap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比較重點：凱基在台股研究與投資行動層有優勢；跨資產快照、事件日曆與總經 surprise 是最優先缺口。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大型券商投資早報 Benchmark｜凱基 e 策略比較｜2026-07-22</a:t>
            </a:r>
            <a:endParaRPr lang="en-US" sz="670" dirty="0"/>
          </a:p>
        </p:txBody>
      </p:sp>
      <p:sp>
        <p:nvSpPr>
          <p:cNvPr id="5" name="Text 3"/>
          <p:cNvSpPr/>
          <p:nvPr/>
        </p:nvSpPr>
        <p:spPr>
          <a:xfrm>
            <a:off x="596189" y="1144829"/>
            <a:ext cx="2739542" cy="325526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比較項目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3339389" y="1144829"/>
            <a:ext cx="1413662" cy="325526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國內券商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4756709" y="1144829"/>
            <a:ext cx="1413662" cy="325526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海外券商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6174029" y="1144829"/>
            <a:ext cx="1687982" cy="325526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凱基 e 策略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865669" y="1144829"/>
            <a:ext cx="3745382" cy="325526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596189" y="1474013"/>
            <a:ext cx="2739542" cy="50840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台股研究與個股評等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3339389" y="1474013"/>
            <a:ext cx="1413662" cy="508406"/>
          </a:xfrm>
          <a:prstGeom prst="rect">
            <a:avLst/>
          </a:prstGeom>
          <a:solidFill>
            <a:srgbClr val="DDEEDB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45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4756709" y="1474013"/>
            <a:ext cx="1413662" cy="508406"/>
          </a:xfrm>
          <a:prstGeom prst="rect">
            <a:avLst/>
          </a:prstGeom>
          <a:solidFill>
            <a:srgbClr val="FFF2CC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B4B0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6174029" y="1474013"/>
            <a:ext cx="1687982" cy="508406"/>
          </a:xfrm>
          <a:prstGeom prst="rect">
            <a:avLst/>
          </a:prstGeom>
          <a:solidFill>
            <a:srgbClr val="DDEEDB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45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7865669" y="1474013"/>
            <a:ext cx="3745382" cy="50840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凱基強項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596189" y="1986077"/>
            <a:ext cx="2739542" cy="508406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法人籌碼與台股定位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3339389" y="1986077"/>
            <a:ext cx="1413662" cy="508406"/>
          </a:xfrm>
          <a:prstGeom prst="rect">
            <a:avLst/>
          </a:prstGeom>
          <a:solidFill>
            <a:srgbClr val="DDEEDB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45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4756709" y="1986077"/>
            <a:ext cx="1413662" cy="508406"/>
          </a:xfrm>
          <a:prstGeom prst="rect">
            <a:avLst/>
          </a:prstGeom>
          <a:solidFill>
            <a:srgbClr val="FFF2CC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B4B0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6174029" y="1986077"/>
            <a:ext cx="1687982" cy="508406"/>
          </a:xfrm>
          <a:prstGeom prst="rect">
            <a:avLst/>
          </a:prstGeom>
          <a:solidFill>
            <a:srgbClr val="FFF2CC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B4B0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7865669" y="1986077"/>
            <a:ext cx="3745382" cy="508406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市場總覽可整合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96189" y="2498141"/>
            <a:ext cx="2739542" cy="50840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跨資產市場快照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3339389" y="2498141"/>
            <a:ext cx="1413662" cy="508406"/>
          </a:xfrm>
          <a:prstGeom prst="rect">
            <a:avLst/>
          </a:prstGeom>
          <a:solidFill>
            <a:srgbClr val="FFF2CC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B4B0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4756709" y="2498141"/>
            <a:ext cx="1413662" cy="508406"/>
          </a:xfrm>
          <a:prstGeom prst="rect">
            <a:avLst/>
          </a:prstGeom>
          <a:solidFill>
            <a:srgbClr val="DDEEDB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45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6174029" y="2498141"/>
            <a:ext cx="1687982" cy="508406"/>
          </a:xfrm>
          <a:prstGeom prst="rect">
            <a:avLst/>
          </a:prstGeom>
          <a:solidFill>
            <a:srgbClr val="FCE4D6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8A3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待補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7865669" y="2498141"/>
            <a:ext cx="3745382" cy="50840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P0 優先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596189" y="3010205"/>
            <a:ext cx="2739542" cy="508406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總經 Surprise Table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3339389" y="3010205"/>
            <a:ext cx="1413662" cy="508406"/>
          </a:xfrm>
          <a:prstGeom prst="rect">
            <a:avLst/>
          </a:prstGeom>
          <a:solidFill>
            <a:srgbClr val="FCE4D6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8A3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4756709" y="3010205"/>
            <a:ext cx="1413662" cy="508406"/>
          </a:xfrm>
          <a:prstGeom prst="rect">
            <a:avLst/>
          </a:prstGeom>
          <a:solidFill>
            <a:srgbClr val="DDEEDB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45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174029" y="3010205"/>
            <a:ext cx="1687982" cy="508406"/>
          </a:xfrm>
          <a:prstGeom prst="rect">
            <a:avLst/>
          </a:prstGeom>
          <a:solidFill>
            <a:srgbClr val="FCE4D6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8A3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待補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7865669" y="3010205"/>
            <a:ext cx="3745382" cy="508406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P1 優先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596189" y="3522269"/>
            <a:ext cx="2739542" cy="50840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事件／財報日曆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3339389" y="3522269"/>
            <a:ext cx="1413662" cy="508406"/>
          </a:xfrm>
          <a:prstGeom prst="rect">
            <a:avLst/>
          </a:prstGeom>
          <a:solidFill>
            <a:srgbClr val="FFF2CC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B4B0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4756709" y="3522269"/>
            <a:ext cx="1413662" cy="508406"/>
          </a:xfrm>
          <a:prstGeom prst="rect">
            <a:avLst/>
          </a:prstGeom>
          <a:solidFill>
            <a:srgbClr val="DDEEDB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45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6174029" y="3522269"/>
            <a:ext cx="1687982" cy="508406"/>
          </a:xfrm>
          <a:prstGeom prst="rect">
            <a:avLst/>
          </a:prstGeom>
          <a:solidFill>
            <a:srgbClr val="FFF2CC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B4B0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待整合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7865669" y="3522269"/>
            <a:ext cx="3745382" cy="50840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P1 優先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596189" y="4034333"/>
            <a:ext cx="2739542" cy="508406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法說／新聞解析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3339389" y="4034333"/>
            <a:ext cx="1413662" cy="508406"/>
          </a:xfrm>
          <a:prstGeom prst="rect">
            <a:avLst/>
          </a:prstGeom>
          <a:solidFill>
            <a:srgbClr val="FFF2CC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B4B0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4756709" y="4034333"/>
            <a:ext cx="1413662" cy="508406"/>
          </a:xfrm>
          <a:prstGeom prst="rect">
            <a:avLst/>
          </a:prstGeom>
          <a:solidFill>
            <a:srgbClr val="FFF2CC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B4B0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6174029" y="4034333"/>
            <a:ext cx="1687982" cy="508406"/>
          </a:xfrm>
          <a:prstGeom prst="rect">
            <a:avLst/>
          </a:prstGeom>
          <a:solidFill>
            <a:srgbClr val="DDEEDB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45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7865669" y="4034333"/>
            <a:ext cx="3745382" cy="508406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差異化強項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596189" y="4546397"/>
            <a:ext cx="2739542" cy="50840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選股／回測／提醒／下單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3339389" y="4546397"/>
            <a:ext cx="1413662" cy="508406"/>
          </a:xfrm>
          <a:prstGeom prst="rect">
            <a:avLst/>
          </a:prstGeom>
          <a:solidFill>
            <a:srgbClr val="FCE4D6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8A3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4756709" y="4546397"/>
            <a:ext cx="1413662" cy="508406"/>
          </a:xfrm>
          <a:prstGeom prst="rect">
            <a:avLst/>
          </a:prstGeom>
          <a:solidFill>
            <a:srgbClr val="FFF2CC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B4B0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6174029" y="4546397"/>
            <a:ext cx="1687982" cy="508406"/>
          </a:xfrm>
          <a:prstGeom prst="rect">
            <a:avLst/>
          </a:prstGeom>
          <a:solidFill>
            <a:srgbClr val="DDEEDB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45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7865669" y="4546397"/>
            <a:ext cx="3745382" cy="50840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最大差異化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685800" y="5779008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解讀：凱基最有機會用「個人化＋可行動」超越同業，但需要先補齊海外券商擅長的跨資產與事件欄位。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7. Gap Thesis：缺的不是內容，而是決策架構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國內券商重研究，海外券商重導航；凱基應把兩者整合成個人化投資早報。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大型券商投資早報 Benchmark｜凱基 e 策略比較｜2026-07-22</a:t>
            </a:r>
            <a:endParaRPr lang="en-US" sz="67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835640" cy="822960"/>
          </a:xfrm>
          <a:prstGeom prst="rect">
            <a:avLst/>
          </a:prstGeom>
          <a:solidFill>
            <a:srgbClr val="D9EAF7"/>
          </a:solidFill>
          <a:ln w="12700">
            <a:solidFill>
              <a:srgbClr val="B7CFE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目前凱基已有研究、AI、策略與交易能力；真正缺口是把它們壓縮成每日固定的「早上 7 點決策路徑」。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0509" y="2516429"/>
            <a:ext cx="2602382" cy="380390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6549" y="2516429"/>
            <a:ext cx="2602382" cy="380390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82589" y="2516429"/>
            <a:ext cx="2602382" cy="380390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個人化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8629" y="2516429"/>
            <a:ext cx="2648102" cy="380390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0509" y="2900477"/>
            <a:ext cx="2602382" cy="1139342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跨資產快照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台股盤前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事件日曆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3476549" y="2900477"/>
            <a:ext cx="2602382" cy="1139342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Risk-on / Risk-off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產業輪動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總經 surprise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6082589" y="2900477"/>
            <a:ext cx="2602382" cy="1139342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我的持股影響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自選股提醒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因子曝險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8688629" y="2900477"/>
            <a:ext cx="2648102" cy="1139342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加入提醒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查看回測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前往下單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960120" y="4800600"/>
            <a:ext cx="10241280" cy="594360"/>
          </a:xfrm>
          <a:prstGeom prst="rect">
            <a:avLst/>
          </a:prstGeom>
          <a:solidFill>
            <a:srgbClr val="F9F4E7"/>
          </a:solidFill>
          <a:ln w="12700">
            <a:solidFill>
              <a:srgbClr val="E1C98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產品原則：每個數字都應有「最新值｜漲跌｜觀察時間｜與昨日相比｜資料來源」。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8. 建議產品：7:00 個人化投資早報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不是新增一篇文章，而是建立每日固定出現、以客戶持股與自選股為中心的晨間決策首頁。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大型券商投資早報 Benchmark｜凱基 e 策略比較｜2026-07-22</a:t>
            </a:r>
            <a:endParaRPr lang="en-US" sz="670" dirty="0"/>
          </a:p>
        </p:txBody>
      </p:sp>
      <p:sp>
        <p:nvSpPr>
          <p:cNvPr id="5" name="Text 3"/>
          <p:cNvSpPr/>
          <p:nvPr/>
        </p:nvSpPr>
        <p:spPr>
          <a:xfrm>
            <a:off x="596189" y="1144829"/>
            <a:ext cx="2145182" cy="325526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2745029" y="1144829"/>
            <a:ext cx="6259982" cy="325526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應放資料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008669" y="1144829"/>
            <a:ext cx="2602382" cy="325526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目的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596189" y="1474013"/>
            <a:ext cx="2145182" cy="764438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5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30 秒市場溫度</a:t>
            </a:r>
            <a:endParaRPr lang="en-US" sz="935" dirty="0"/>
          </a:p>
        </p:txBody>
      </p:sp>
      <p:sp>
        <p:nvSpPr>
          <p:cNvPr id="9" name="Text 7"/>
          <p:cNvSpPr/>
          <p:nvPr/>
        </p:nvSpPr>
        <p:spPr>
          <a:xfrm>
            <a:off x="2745029" y="1474013"/>
            <a:ext cx="6259982" cy="764438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5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Risk-on/Neutral/Risk-off、美股期貨、費半、台積電 ADR、美債 2Y/10Y、DXY、USD/TWD、VIX、油金、Bitcoin</a:t>
            </a:r>
            <a:endParaRPr lang="en-US" sz="935" dirty="0"/>
          </a:p>
        </p:txBody>
      </p:sp>
      <p:sp>
        <p:nvSpPr>
          <p:cNvPr id="10" name="Text 8"/>
          <p:cNvSpPr/>
          <p:nvPr/>
        </p:nvSpPr>
        <p:spPr>
          <a:xfrm>
            <a:off x="9008669" y="1474013"/>
            <a:ext cx="2602382" cy="764438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5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建立全球市場方向</a:t>
            </a:r>
            <a:endParaRPr lang="en-US" sz="935" dirty="0"/>
          </a:p>
        </p:txBody>
      </p:sp>
      <p:sp>
        <p:nvSpPr>
          <p:cNvPr id="11" name="Text 9"/>
          <p:cNvSpPr/>
          <p:nvPr/>
        </p:nvSpPr>
        <p:spPr>
          <a:xfrm>
            <a:off x="596189" y="2242109"/>
            <a:ext cx="2145182" cy="764438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5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台股盤前儀表板</a:t>
            </a:r>
            <a:endParaRPr lang="en-US" sz="935" dirty="0"/>
          </a:p>
        </p:txBody>
      </p:sp>
      <p:sp>
        <p:nvSpPr>
          <p:cNvPr id="12" name="Text 10"/>
          <p:cNvSpPr/>
          <p:nvPr/>
        </p:nvSpPr>
        <p:spPr>
          <a:xfrm>
            <a:off x="2745029" y="2242109"/>
            <a:ext cx="6259982" cy="764438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5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台指期夜盤、三大法人、外資期貨、融資融券、借券、PCR、市場廣度、產業強弱</a:t>
            </a:r>
            <a:endParaRPr lang="en-US" sz="935" dirty="0"/>
          </a:p>
        </p:txBody>
      </p:sp>
      <p:sp>
        <p:nvSpPr>
          <p:cNvPr id="13" name="Text 11"/>
          <p:cNvSpPr/>
          <p:nvPr/>
        </p:nvSpPr>
        <p:spPr>
          <a:xfrm>
            <a:off x="9008669" y="2242109"/>
            <a:ext cx="2602382" cy="764438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5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把國內強項產品化</a:t>
            </a:r>
            <a:endParaRPr lang="en-US" sz="935" dirty="0"/>
          </a:p>
        </p:txBody>
      </p:sp>
      <p:sp>
        <p:nvSpPr>
          <p:cNvPr id="14" name="Text 12"/>
          <p:cNvSpPr/>
          <p:nvPr/>
        </p:nvSpPr>
        <p:spPr>
          <a:xfrm>
            <a:off x="596189" y="3010205"/>
            <a:ext cx="2145182" cy="764438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5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今日事件日曆</a:t>
            </a:r>
            <a:endParaRPr lang="en-US" sz="935" dirty="0"/>
          </a:p>
        </p:txBody>
      </p:sp>
      <p:sp>
        <p:nvSpPr>
          <p:cNvPr id="15" name="Text 13"/>
          <p:cNvSpPr/>
          <p:nvPr/>
        </p:nvSpPr>
        <p:spPr>
          <a:xfrm>
            <a:off x="2745029" y="3010205"/>
            <a:ext cx="6259982" cy="764438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5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經濟數據、央行、財報、法說、月營收、除權息、ETF 與指數調整</a:t>
            </a:r>
            <a:endParaRPr lang="en-US" sz="935" dirty="0"/>
          </a:p>
        </p:txBody>
      </p:sp>
      <p:sp>
        <p:nvSpPr>
          <p:cNvPr id="16" name="Text 14"/>
          <p:cNvSpPr/>
          <p:nvPr/>
        </p:nvSpPr>
        <p:spPr>
          <a:xfrm>
            <a:off x="9008669" y="3010205"/>
            <a:ext cx="2602382" cy="764438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5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把文章變可排序資料</a:t>
            </a:r>
            <a:endParaRPr lang="en-US" sz="935" dirty="0"/>
          </a:p>
        </p:txBody>
      </p:sp>
      <p:sp>
        <p:nvSpPr>
          <p:cNvPr id="17" name="Text 15"/>
          <p:cNvSpPr/>
          <p:nvPr/>
        </p:nvSpPr>
        <p:spPr>
          <a:xfrm>
            <a:off x="596189" y="3778301"/>
            <a:ext cx="2145182" cy="764438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5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我的持股影響</a:t>
            </a:r>
            <a:endParaRPr lang="en-US" sz="935" dirty="0"/>
          </a:p>
        </p:txBody>
      </p:sp>
      <p:sp>
        <p:nvSpPr>
          <p:cNvPr id="18" name="Text 16"/>
          <p:cNvSpPr/>
          <p:nvPr/>
        </p:nvSpPr>
        <p:spPr>
          <a:xfrm>
            <a:off x="2745029" y="3778301"/>
            <a:ext cx="6259982" cy="764438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5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影響最大的持股、因子曝險、新聞／法說方向、AI 信心、研究報告、風險條件</a:t>
            </a:r>
            <a:endParaRPr lang="en-US" sz="935" dirty="0"/>
          </a:p>
        </p:txBody>
      </p:sp>
      <p:sp>
        <p:nvSpPr>
          <p:cNvPr id="19" name="Text 17"/>
          <p:cNvSpPr/>
          <p:nvPr/>
        </p:nvSpPr>
        <p:spPr>
          <a:xfrm>
            <a:off x="9008669" y="3778301"/>
            <a:ext cx="2602382" cy="764438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5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打造個人化核心</a:t>
            </a:r>
            <a:endParaRPr lang="en-US" sz="935" dirty="0"/>
          </a:p>
        </p:txBody>
      </p:sp>
      <p:sp>
        <p:nvSpPr>
          <p:cNvPr id="20" name="Text 18"/>
          <p:cNvSpPr/>
          <p:nvPr/>
        </p:nvSpPr>
        <p:spPr>
          <a:xfrm>
            <a:off x="596189" y="4546397"/>
            <a:ext cx="2145182" cy="764438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5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 可執行行動卡</a:t>
            </a:r>
            <a:endParaRPr lang="en-US" sz="935" dirty="0"/>
          </a:p>
        </p:txBody>
      </p:sp>
      <p:sp>
        <p:nvSpPr>
          <p:cNvPr id="21" name="Text 19"/>
          <p:cNvSpPr/>
          <p:nvPr/>
        </p:nvSpPr>
        <p:spPr>
          <a:xfrm>
            <a:off x="2745029" y="4546397"/>
            <a:ext cx="6259982" cy="764438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5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方向、觸發條件、理由、目標區間、失效條件、AI 機率、回測、提醒、下單</a:t>
            </a:r>
            <a:endParaRPr lang="en-US" sz="935" dirty="0"/>
          </a:p>
        </p:txBody>
      </p:sp>
      <p:sp>
        <p:nvSpPr>
          <p:cNvPr id="22" name="Text 20"/>
          <p:cNvSpPr/>
          <p:nvPr/>
        </p:nvSpPr>
        <p:spPr>
          <a:xfrm>
            <a:off x="9008669" y="4546397"/>
            <a:ext cx="2602382" cy="764438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5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把早報變成行動</a:t>
            </a:r>
            <a:endParaRPr lang="en-US" sz="93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9. 必備欄位：從市場數字到我的持股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每個欄位都應避免只呈現數字，而要呈現「相對昨日改變」與「可能影響」。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大型券商投資早報 Benchmark｜凱基 e 策略比較｜2026-07-22</a:t>
            </a:r>
            <a:endParaRPr lang="en-US" sz="670" dirty="0"/>
          </a:p>
        </p:txBody>
      </p:sp>
      <p:sp>
        <p:nvSpPr>
          <p:cNvPr id="5" name="Text 3"/>
          <p:cNvSpPr/>
          <p:nvPr/>
        </p:nvSpPr>
        <p:spPr>
          <a:xfrm>
            <a:off x="596189" y="1144829"/>
            <a:ext cx="1733702" cy="325526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資料區</a:t>
            </a:r>
            <a:endParaRPr lang="en-US" sz="1070" dirty="0"/>
          </a:p>
        </p:txBody>
      </p:sp>
      <p:sp>
        <p:nvSpPr>
          <p:cNvPr id="6" name="Text 4"/>
          <p:cNvSpPr/>
          <p:nvPr/>
        </p:nvSpPr>
        <p:spPr>
          <a:xfrm>
            <a:off x="2333549" y="1144829"/>
            <a:ext cx="5574182" cy="325526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必要欄位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7911389" y="1144829"/>
            <a:ext cx="3699662" cy="325526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呈現方式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596189" y="1474013"/>
            <a:ext cx="1733702" cy="69128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市場快照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2333549" y="1474013"/>
            <a:ext cx="5574182" cy="69128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主要指數／期貨、利率、美元、台幣、VIX、油金、Bitcoin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911389" y="1474013"/>
            <a:ext cx="3699662" cy="69128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值、漲跌、時間、資料源、與昨日相比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6189" y="2168957"/>
            <a:ext cx="1733702" cy="691286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台股盤前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2333549" y="2168957"/>
            <a:ext cx="5574182" cy="691286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台指期夜盤、台積電 ADR、三大法人、外資期貨、融資融券、PCR、市場廣度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911389" y="2168957"/>
            <a:ext cx="3699662" cy="691286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3 個結論壓縮：偏多、偏空、觀察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96189" y="2863901"/>
            <a:ext cx="1733702" cy="69128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事件日曆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333549" y="2863901"/>
            <a:ext cx="5574182" cy="69128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時間、事件、實際值、預估、前值、surprise、影響資產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911389" y="2863901"/>
            <a:ext cx="3699662" cy="69128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可排序、可訂閱、可連回研究報告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96189" y="3558845"/>
            <a:ext cx="1733702" cy="691286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持股影響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2333549" y="3558845"/>
            <a:ext cx="5574182" cy="691286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持股曝險、事件傳導、可能貢獻／拖累、AI 信心、研究員觀點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911389" y="3558845"/>
            <a:ext cx="3699662" cy="691286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依客戶庫存與自選股排序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596189" y="4253789"/>
            <a:ext cx="1733702" cy="69128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行動卡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2333549" y="4253789"/>
            <a:ext cx="5574182" cy="69128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標的、觸發條件、目標區間、失效條件、回測結果、提醒／下單按鈕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7911389" y="4253789"/>
            <a:ext cx="3699662" cy="69128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明確把資訊轉成下一步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731520" y="566928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範例語句：不是只寫「美國十年債殖利率上升」，而是寫「你的持股中，三檔高本益比電子股對殖利率上升較敏感，占股票部位 27%」。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10. 建議開發優先順序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先解決 30 秒可讀，再補事件與個人化，最後強化專業交易資料。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大型券商投資早報 Benchmark｜凱基 e 策略比較｜2026-07-22</a:t>
            </a:r>
            <a:endParaRPr lang="en-US" sz="670" dirty="0"/>
          </a:p>
        </p:txBody>
      </p:sp>
      <p:sp>
        <p:nvSpPr>
          <p:cNvPr id="5" name="Text 3"/>
          <p:cNvSpPr/>
          <p:nvPr/>
        </p:nvSpPr>
        <p:spPr>
          <a:xfrm>
            <a:off x="596189" y="1144829"/>
            <a:ext cx="1962302" cy="325526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優先序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2562149" y="1144829"/>
            <a:ext cx="5254142" cy="325526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功能內容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7819949" y="1144829"/>
            <a:ext cx="3791102" cy="325526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驗收標準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596189" y="1474013"/>
            <a:ext cx="1962302" cy="846734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45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P0：早報閱讀效率</a:t>
            </a:r>
            <a:endParaRPr lang="en-US" sz="945" dirty="0"/>
          </a:p>
        </p:txBody>
      </p:sp>
      <p:sp>
        <p:nvSpPr>
          <p:cNvPr id="9" name="Text 7"/>
          <p:cNvSpPr/>
          <p:nvPr/>
        </p:nvSpPr>
        <p:spPr>
          <a:xfrm>
            <a:off x="2562149" y="1474013"/>
            <a:ext cx="5254142" cy="846734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45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固定單頁晨間首頁、行情時間／來源／延遲狀態、跨資產快照、相較昨日三大改變、市場／研究／持股放同頁</a:t>
            </a:r>
            <a:endParaRPr lang="en-US" sz="945" dirty="0"/>
          </a:p>
        </p:txBody>
      </p:sp>
      <p:sp>
        <p:nvSpPr>
          <p:cNvPr id="10" name="Text 8"/>
          <p:cNvSpPr/>
          <p:nvPr/>
        </p:nvSpPr>
        <p:spPr>
          <a:xfrm>
            <a:off x="7819949" y="1474013"/>
            <a:ext cx="3791102" cy="846734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45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 秒內回答：今天市場溫度、主要風險、台股盤前方向</a:t>
            </a:r>
            <a:endParaRPr lang="en-US" sz="945" dirty="0"/>
          </a:p>
        </p:txBody>
      </p:sp>
      <p:sp>
        <p:nvSpPr>
          <p:cNvPr id="11" name="Text 9"/>
          <p:cNvSpPr/>
          <p:nvPr/>
        </p:nvSpPr>
        <p:spPr>
          <a:xfrm>
            <a:off x="596189" y="2324405"/>
            <a:ext cx="1962302" cy="846734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45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P1：事件與個人化</a:t>
            </a:r>
            <a:endParaRPr lang="en-US" sz="945" dirty="0"/>
          </a:p>
        </p:txBody>
      </p:sp>
      <p:sp>
        <p:nvSpPr>
          <p:cNvPr id="12" name="Text 10"/>
          <p:cNvSpPr/>
          <p:nvPr/>
        </p:nvSpPr>
        <p:spPr>
          <a:xfrm>
            <a:off x="2562149" y="2324405"/>
            <a:ext cx="5254142" cy="846734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45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總經實際值／預估值／前值、財報與法說日曆、我的持股影響排名、風險提醒、事件傳導路徑</a:t>
            </a:r>
            <a:endParaRPr lang="en-US" sz="945" dirty="0"/>
          </a:p>
        </p:txBody>
      </p:sp>
      <p:sp>
        <p:nvSpPr>
          <p:cNvPr id="13" name="Text 11"/>
          <p:cNvSpPr/>
          <p:nvPr/>
        </p:nvSpPr>
        <p:spPr>
          <a:xfrm>
            <a:off x="7819949" y="2324405"/>
            <a:ext cx="3791102" cy="846734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45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看到哪些事件影響我的持股／自選股、影響方向與信心水準</a:t>
            </a:r>
            <a:endParaRPr lang="en-US" sz="945" dirty="0"/>
          </a:p>
        </p:txBody>
      </p:sp>
      <p:sp>
        <p:nvSpPr>
          <p:cNvPr id="14" name="Text 12"/>
          <p:cNvSpPr/>
          <p:nvPr/>
        </p:nvSpPr>
        <p:spPr>
          <a:xfrm>
            <a:off x="596189" y="3174797"/>
            <a:ext cx="1962302" cy="846734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45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P2：專業交易資料</a:t>
            </a:r>
            <a:endParaRPr lang="en-US" sz="945" dirty="0"/>
          </a:p>
        </p:txBody>
      </p:sp>
      <p:sp>
        <p:nvSpPr>
          <p:cNvPr id="15" name="Text 13"/>
          <p:cNvSpPr/>
          <p:nvPr/>
        </p:nvSpPr>
        <p:spPr>
          <a:xfrm>
            <a:off x="2562149" y="3174797"/>
            <a:ext cx="5254142" cy="846734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45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外資期貨與選擇權定位、市場廣度、產業輪動、波動率期限結構、情境模擬、AI 校準紀錄、失效條件</a:t>
            </a:r>
            <a:endParaRPr lang="en-US" sz="945" dirty="0"/>
          </a:p>
        </p:txBody>
      </p:sp>
      <p:sp>
        <p:nvSpPr>
          <p:cNvPr id="16" name="Text 14"/>
          <p:cNvSpPr/>
          <p:nvPr/>
        </p:nvSpPr>
        <p:spPr>
          <a:xfrm>
            <a:off x="7819949" y="3174797"/>
            <a:ext cx="3791102" cy="846734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45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主動交易客戶能安排當日風險與交易計畫</a:t>
            </a:r>
            <a:endParaRPr lang="en-US" sz="945" dirty="0"/>
          </a:p>
        </p:txBody>
      </p:sp>
      <p:sp>
        <p:nvSpPr>
          <p:cNvPr id="17" name="Text 15"/>
          <p:cNvSpPr/>
          <p:nvPr/>
        </p:nvSpPr>
        <p:spPr>
          <a:xfrm>
            <a:off x="594360" y="4709160"/>
            <a:ext cx="2286000" cy="347472"/>
          </a:xfrm>
          <a:prstGeom prst="rect">
            <a:avLst/>
          </a:prstGeom>
          <a:solidFill>
            <a:srgbClr val="EEF6FB"/>
          </a:solidFill>
          <a:ln w="12700">
            <a:solidFill>
              <a:srgbClr val="B7CFE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 KPI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63240" y="4718304"/>
            <a:ext cx="84582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打開率｜30 秒內首屏完成率｜持股影響卡點擊率｜事件提醒訂閱率｜查看回測｜加入提醒｜下單轉換｜AI 建議校準紀錄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11. 資料來源與下一步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 URL 已放入 Word 文件附錄；簡報保留來源代號，方便對照。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大型券商投資早報 Benchmark｜凱基 e 策略比較｜2026-07-22</a:t>
            </a:r>
            <a:endParaRPr lang="en-US" sz="670" dirty="0"/>
          </a:p>
        </p:txBody>
      </p:sp>
      <p:sp>
        <p:nvSpPr>
          <p:cNvPr id="5" name="Text 3"/>
          <p:cNvSpPr/>
          <p:nvPr/>
        </p:nvSpPr>
        <p:spPr>
          <a:xfrm>
            <a:off x="687629" y="1144829"/>
            <a:ext cx="1596542" cy="380390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來源代號</a:t>
            </a:r>
            <a:endParaRPr lang="en-US" sz="1260" dirty="0"/>
          </a:p>
        </p:txBody>
      </p:sp>
      <p:sp>
        <p:nvSpPr>
          <p:cNvPr id="6" name="Text 4"/>
          <p:cNvSpPr/>
          <p:nvPr/>
        </p:nvSpPr>
        <p:spPr>
          <a:xfrm>
            <a:off x="2287829" y="1144829"/>
            <a:ext cx="9231782" cy="380390"/>
          </a:xfrm>
          <a:prstGeom prst="rect">
            <a:avLst/>
          </a:prstGeom>
          <a:solidFill>
            <a:srgbClr val="0B1F3A"/>
          </a:solidFill>
          <a:ln w="5715">
            <a:solidFill>
              <a:srgbClr val="D5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來源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687629" y="1528877"/>
            <a:ext cx="1596542" cy="50840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S1-S4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2287829" y="1528877"/>
            <a:ext cx="9231782" cy="50840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元大投顧公開 PDF 樣本、統一投顧、永豐投顧、元富／台新投資情報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687629" y="2040941"/>
            <a:ext cx="1596542" cy="508406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S5-S8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2287829" y="2040941"/>
            <a:ext cx="9231782" cy="508406"/>
          </a:xfrm>
          <a:prstGeom prst="rect">
            <a:avLst/>
          </a:prstGeom>
          <a:solidFill>
            <a:srgbClr val="F2F5F8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Charles Schwab、Saxo、E*TRADE / Morgan Stanley、Interactive Brokers 公開 morning update / insights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687629" y="2553005"/>
            <a:ext cx="1596542" cy="50840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S9-S11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2287829" y="2553005"/>
            <a:ext cx="9231782" cy="508406"/>
          </a:xfrm>
          <a:prstGeom prst="rect">
            <a:avLst/>
          </a:prstGeom>
          <a:solidFill>
            <a:srgbClr val="FFFFFF"/>
          </a:solidFill>
          <a:ln w="5715">
            <a:solidFill>
              <a:srgbClr val="D5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凱基隨身 e 策略 App Store、凱基 AI 助理＋贏家公告、凱基投顧研究入口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685800" y="365760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下一步建議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4069080"/>
            <a:ext cx="10835640" cy="960120"/>
          </a:xfrm>
          <a:prstGeom prst="rect">
            <a:avLst/>
          </a:prstGeom>
          <a:solidFill>
            <a:srgbClr val="D9EAF7"/>
          </a:solidFill>
          <a:ln w="12700">
            <a:solidFill>
              <a:srgbClr val="B7CFE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取得目前 e 策略「首頁、贏家、AI 助理、投資早報、通知中心」各 1–2 張實際畫面，將本次比較轉成逐欄位 Product Gap List 與開發驗收表。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5800" y="5532120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定位語：每天早上幫客戶理解市場、理解自己持股，並採取合適行動。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大型券商投資早報 Benchmark</dc:title>
  <dc:subject>大型券商投資早報 Benchmark 與凱基 e策略比較</dc:subject>
  <dc:creator>OpenAI</dc:creator>
  <cp:lastModifiedBy>OpenAI</cp:lastModifiedBy>
  <cp:revision>1</cp:revision>
  <dcterms:created xsi:type="dcterms:W3CDTF">2026-07-22T02:55:55Z</dcterms:created>
  <dcterms:modified xsi:type="dcterms:W3CDTF">2026-07-22T02:55:55Z</dcterms:modified>
</cp:coreProperties>
</file>